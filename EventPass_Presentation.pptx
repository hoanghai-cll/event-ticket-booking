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3ef926d57ba4670" /><Relationship Type="http://schemas.openxmlformats.org/package/2006/relationships/metadata/core-properties" Target="/docProps/core.xml" Id="Rbb1f20eee9ea450f" /><Relationship Type="http://schemas.openxmlformats.org/officeDocument/2006/relationships/extended-properties" Target="/docProps/app.xml" Id="Rd7624a0dbdbc4b38" /><Relationship Type="http://schemas.openxmlformats.org/officeDocument/2006/relationships/custom-properties" Target="/docProps/custom.xml" Id="R015e89c6d8b44ea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2eee03a09d64b46"/>
    <p:sldId id="257" r:id="R5f67a996646b478f"/>
    <p:sldId id="258" r:id="R258afa1038a440c5"/>
    <p:sldId id="259" r:id="Reabaaf79baad4ec3"/>
    <p:sldId id="260" r:id="R892ab02f63bb484a"/>
    <p:sldId id="261" r:id="R35fe7ee159064a08"/>
    <p:sldId id="262" r:id="Rc390ad3403724b0b"/>
    <p:sldId id="263" r:id="Rb7b713f6b45b4890"/>
    <p:sldId id="264" r:id="R9e99177d7617414f"/>
    <p:sldId id="265" r:id="R57393d55eec04c89"/>
    <p:sldId id="266" r:id="R513ed39a10ae41ed"/>
    <p:sldId id="267" r:id="R354ebd69db9a414e"/>
    <p:sldId id="268" r:id="Re2adee505619444e"/>
    <p:sldId id="269" r:id="R70ae14cc44ec4b70"/>
    <p:sldId id="270" r:id="Rc447fb0a021846eb"/>
    <p:sldId id="271" r:id="Rb77791448595463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2eee03a09d64b46" /><Relationship Type="http://schemas.openxmlformats.org/officeDocument/2006/relationships/slide" Target="/ppt/slides/slide2.xml" Id="R5f67a996646b478f" /><Relationship Type="http://schemas.openxmlformats.org/officeDocument/2006/relationships/slide" Target="/ppt/slides/slide3.xml" Id="R258afa1038a440c5" /><Relationship Type="http://schemas.openxmlformats.org/officeDocument/2006/relationships/slide" Target="/ppt/slides/slide4.xml" Id="Reabaaf79baad4ec3" /><Relationship Type="http://schemas.openxmlformats.org/officeDocument/2006/relationships/slide" Target="/ppt/slides/slide5.xml" Id="R892ab02f63bb484a" /><Relationship Type="http://schemas.openxmlformats.org/officeDocument/2006/relationships/slide" Target="/ppt/slides/slide6.xml" Id="R35fe7ee159064a08" /><Relationship Type="http://schemas.openxmlformats.org/officeDocument/2006/relationships/slide" Target="/ppt/slides/slide7.xml" Id="Rc390ad3403724b0b" /><Relationship Type="http://schemas.openxmlformats.org/officeDocument/2006/relationships/slide" Target="/ppt/slides/slide8.xml" Id="Rb7b713f6b45b4890" /><Relationship Type="http://schemas.openxmlformats.org/officeDocument/2006/relationships/slide" Target="/ppt/slides/slide9.xml" Id="R9e99177d7617414f" /><Relationship Type="http://schemas.openxmlformats.org/officeDocument/2006/relationships/slide" Target="/ppt/slides/slide10.xml" Id="R57393d55eec04c89" /><Relationship Type="http://schemas.openxmlformats.org/officeDocument/2006/relationships/slide" Target="/ppt/slides/slide11.xml" Id="R513ed39a10ae41ed" /><Relationship Type="http://schemas.openxmlformats.org/officeDocument/2006/relationships/slide" Target="/ppt/slides/slide12.xml" Id="R354ebd69db9a414e" /><Relationship Type="http://schemas.openxmlformats.org/officeDocument/2006/relationships/slide" Target="/ppt/slides/slide13.xml" Id="Re2adee505619444e" /><Relationship Type="http://schemas.openxmlformats.org/officeDocument/2006/relationships/slide" Target="/ppt/slides/slide14.xml" Id="R70ae14cc44ec4b70" /><Relationship Type="http://schemas.openxmlformats.org/officeDocument/2006/relationships/slide" Target="/ppt/slides/slide15.xml" Id="Rc447fb0a021846eb" /><Relationship Type="http://schemas.openxmlformats.org/officeDocument/2006/relationships/slide" Target="/ppt/slides/slide16.xml" Id="Rb77791448595463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892a65ce544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1ee9c1f9f4f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bf679a31a4d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5a3c5b4834d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18d02ede5410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309b9e59aac4f4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60bb2a1a34d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a37620ae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b686a0ac3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b3ce7e545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6a2797864a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c3c81b92243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aa010034d48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a5bb129754a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35a47c0144f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e888f4984f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c5cc764964e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2182dce3043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5d110af7b44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68dc508d147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8c26ae5145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cca1d2ceb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620000"/>
            <a:ext cx="1072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C0392B"/>
                </a:solidFill>
                <a:latin typeface="Segoe UI"/>
                <a:ea typeface="Segoe UI"/>
              </a:rPr>
              <a:t>EventPass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270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3E352F"/>
                </a:solidFill>
                <a:latin typeface="Segoe UI"/>
                <a:ea typeface="Segoe UI"/>
              </a:rPr>
              <a:t>Hệ thống Đặt vé &amp; Soát vé Sự kiện Thông minh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468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7E736C"/>
                </a:solidFill>
                <a:latin typeface="Segoe UI"/>
                <a:ea typeface="Segoe UI"/>
              </a:rPr>
              <a:t>Tác giả: Hoàng Hải  |  Trường: Đại học Mỏ - Địa chất (HUMG)  |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1. Tổng Quan Dự Án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EventPass là ứng dụng di động Android cung cấp giải pháp toàn diện cho việc đặt vé sự kiện, quản lý hóa đơn và quy trình check-in chuyên nghiệp bằng mã QR.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Nền tảng phát triển: Android Native (Java) + Google Firebase đám mây.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Trọng tâm ứng dụng: Trải nghiệm người dùng mượt mà và kiểm soát quản trị mạnh mẽ.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Mục tiêu cốt lõi: Số hóa hoàn diện vé giấy, giảm thời gian check-in từ vài phút xuống dưới 2 giây.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2. Chi Tiết Tính Năng Người Dùng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Khám phá sự kiện: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Duyệt và tìm kiếm danh sách sự kiện nổi bật, workshop với hình ảnh sắc nét, thông tin chi tiết.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Đặt vé thông minh: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Quy trình mua vé 3 bước tối giản, tích hợp mã giảm giá (Voucher) và tính toán chiết khấu tự động.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Vé điện tử QR Code: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Vào cổng an toàn. Tích hợp Logic Trì hoãn Kích hoạt tự động hiển thị QR trước 24 giờ diễn ra sự kiện.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Hệ thống EXP thành viên: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Tích lũy điểm khi mua vé để thăng hạng (Đồng, Bạc, Vàng, VIP) và tự động nhận các voucher phần thưởng độc quyền.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3. Chi Tiết Tính Năng Quản Trị Viên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Trình quét QR cao cấp: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Giao diện soát vé camera hiệu suất cao, tích hợp hiệu ứng Laser quét động và hỗ trợ bật đèn flash tiện lợi.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Check-in tức thì: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Truy xuất hồ sơ người mua và trạng thái thanh toán của hóa đơn thời gian thực ngay khi quét thành công.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Quản lý đơn hàng &amp; Kho vé: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Xét duyệt nhanh yêu cầu hoàn tiền của khách hàng và cập nhật số lượng vé còn lại thời gian thực.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Thống kê doanh thu: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Báo cáo trực quan về hiệu suất bán vé, phân tích chi tiêu của người dùng và doanh thu sự kiện.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4. Luồng Đặt Vé &amp; Thanh Toán (Cách hoạt động)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Cách thức hoạt động của luồng đặt vé trên ứng dụng: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1. Chọn vé: Người dùng chọn số lượng và hạng vé (VIP/Standard) trên màn hình EventDetailActivity.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2. Áp dụng Voucher: Hệ thống gọi VoucherController lấy danh sách mã giảm giá khả dụng, tính toán số tiền giảm trừ thực tế.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3. Tạo hóa đơn: Khi bấm thanh toán, hệ thống gọi BookingController.saveBooking() tạo document hóa đơn mới ở trạng thái "Confirmed".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4. Cập nhật số lượng vé: Chạy Firestore Transaction để trừ số lượng vé còn lại trong event document tương ứng, đảm bảo tính nhất quán dữ liệu.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11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5. Sơ Đồ Luồng Đặt Vé &amp; Thanh Toán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SƠ ĐỒ TIẾN TRÌNH NGHIỆP VỤ: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[Người dùng chọn vé &amp; Voucher]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▼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[Hệ thống gọi VoucherController tính chiết khấu]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▼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[Gọi BookingController.saveBooking() tạo hóa đơn]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▼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[Khởi chạy Firestore Transaction bảo mật]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┌─────────┴─────────┐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▼                   ▼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[Thành công]      [Thất bại]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- Trừ vé kho      - Báo lỗi hết vé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- Lưu hóa đơn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- Xóa voucher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6. Logic Trì Hoãn Kích Hoạt QR Code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Cách thức hoạt động của tính năng bảo mật vé: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1. Kiểm tra thời gian: Khi người dùng xem vé, app lấy thời gian bắt đầu sự kiện (event.startDate) và thời gian hiện tại (System.currentTimeMillis()).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2. Lấy Remote Config: App gọi ConfigController.getQrReleaseThresholdHours() để lấy ngưỡng thời gian cho phép hiển thị mã QR (mặc định là 24 giờ).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3. So sánh: Nếu (event.startDate - currentTime) &lt;= thresholdMs, app sẽ tạo chuỗi mã QR có định dạng "bookingId" và vẽ lên màn hình bằng thư viện ZXing.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4. Bảo mật: Nếu chưa đến thời gian cho phép, mã QR sẽ bị ẩn và thay thế bằng hoạt ảnh thông báo đếm ngược.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7. Quy Trình Quét Mã QR &amp; Check-in (Admin)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Cách thức soát vé tự động bằng camera Admin: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1. Quét mã: Admin mở CustomScannerActivity (quét camera thông qua thư viện ZXing Embedded với hiệu ứng laser chuyển động).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2. Giải mã dữ liệu: Camera quét và giải mã chuỗi QR thu được để lấy mã bookingId.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3. Xác thực: Controller gọi BookingController.getBookingById() để đối chiếu. Nếu trạng thái vé là "Confirmed", app hiển thị hồ sơ khách hàng, âm thanh "Bíp" thành công.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4. Cập nhật: App gọi BookingController.updateBookingStatus() chuyển trạng thái vé thành "Used" và tự động cộng EXP cho người dùng.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8. Sơ Đồ Quy Trình Quét QR &amp; Check-in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TIẾN TRÌNH TRÌ HOÃN QR &amp; SOÁT VÉ: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[User mở vé] ➔ [Tính thời gian còn lại (Event - Hiện tại)]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┌──────────┴──────────┐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▼ &lt;= 24h              ▼ &gt; 24h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[Tạo QR bằng ZXing]   [Ẩn QR, hiện đếm ngược]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▼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[Admin quét mã QR] ➔ [Giải mã lấy bookingId]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      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                  ▼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[Xác thực trạng thái "Confirmed" trên Firestore]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           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   ┌──────────────┴──────────────┐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        ▼ Hợp lệ                      ▼ Không hợp lệ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[Đổi trạng thái vé thành "Used"]   [Màn hình đỏ báo lỗi]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[addExp() cộng điểm EXP thưởng]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9. Cách Các API Tương Tác Với Nhau</a:t>
            </a:r>
          </a:p>
        </p:txBody>
      </p:sp>
      <p:sp>
        <p:nvSpPr>
          <p:cNvPr id="100020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Sự liên kết giữa các Controller xử lý nghiệp vụ: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Luồng Đặt vé + Voucher: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BookingController gọi VoucherController.removeUserVoucher() để xóa voucher khỏi ví người dùng sau khi thanh toán thành công.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Luồng Hoàn vé: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Khi Admin duyệt hoàn tiền, BookingController chuyển trạng thái vé thành "Cancelled", đồng thời gọi EventController.updateRemainingTicket() để hoàn lại số lượng vé vào kho.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Luồng Đánh giá + Cập nhật Event: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Khi người dùng gửi đánh giá, ReviewController.saveReview() sẽ kích hoạt EventController.updateRating() để tính toán lại điểm trung bình (sao) của sự kiện.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10. Sơ Đồ Đẩy &amp; Đồng Bộ Dữ Liệu Firebase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KIẾN TRÚC GIAO TIẾP DỮ LIỆU: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[Giao diện App di động] (Capture Input Data)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│  ▲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│  │ (LiveData notifies UI on changes)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▼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[Controller &amp; Model Java] (Process Logic)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│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      ▼ (CRUD API requests via set() / update())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[Google Firebase Cloud]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├─ Authentication (Xác thực tài khoản người dùng)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├─ Cloud Firestore NoSQL (users, events, bookings, reviews...)</a:t>
            </a:r>
          </a:p>
          <a:p xmlns:a="http://schemas.openxmlformats.org/drawingml/2006/main">
            <a:r>
              <a:rPr lang="en-US" sz="1400">
                <a:solidFill>
                  <a:srgbClr val="3E352F"/>
                </a:solidFill>
                <a:latin typeface="Consolas"/>
                <a:ea typeface="Consolas"/>
              </a:rPr>
              <a:t> └─ Cloud Storage (Lưu trữ tệp tin &amp; banner sự kiện)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11. Cơ Chế Tích Lũy EXP &amp; Thăng Hạng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Cách thức vận hành hệ thống khách hàng thân thiết: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1. Mua vé thành công: Hệ thống gọi UserController.addExp() cộng điểm EXP dựa trên giá trị hóa đơn (ví dụ: 100.000đ = 10 EXP).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2. Kiểm tra ngưỡng cấp bậc: App đối chiếu tổng EXP hiện tại của User với các mốc quy định (Bạc: 100 EXP, Vàng: 500 EXP, VIP: 1000 EXP).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3. Thăng hạng: Nếu vượt ngưỡng, cấp bậc user.tier được cập nhật trực tiếp trên Firestore.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4. Trao thưởng: Tự động gọi VoucherController.addUserVoucher() để cấp các mã giảm giá đặc quyền thăng hạng vào ví user.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25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12. Kiến Trúc MVC + LiveData</a:t>
            </a:r>
          </a:p>
        </p:txBody>
      </p:sp>
      <p:sp>
        <p:nvSpPr>
          <p:cNvPr id="100026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Mô hình tổ chức mã nguồn và luồng điều khiển: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Model (Lớp dữ liệu):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Các đối tượng Java thuần túy ánh xạ 1-1 với Firestore Documents.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View (Lớp hiển thị):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59 layout XML sử dụng Material Components 3 để hiển thị thông tin.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Controller (Lớp nghiệp vụ):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7 controller xử lý độc lập các truy vấn Firestore, tách biệt hoàn toàn mã UI khỏi truy vấn dữ liệu.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ViewModel &amp; LiveData: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Quản lý trạng thái UI. View đăng ký (observe) dữ liệu từ LiveData, tự động vẽ lại giao diện khi Firestore thay đổi.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13. Công Nghệ &amp; Thư Viện Cốt Lõi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Java (Android SDK 36):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Ngôn ngữ lập trình chính native.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Google Firebase Platform: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Auth (xác thực), Firestore (dữ liệu), Storage (lưu trữ ảnh), Messaging (thông báo), Remote Config (cấu hình động).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ZXing Android Embedded (4.3.0):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Quét và tạo mã QR Code bảo mật.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Glide (4.16.0):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Tải và cache hình ảnh tối ưu dung lượng bộ nhớ RAM.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Lottie (6.1.0):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Hiển thị hoạt ảnh Vector chuyển động mượt mà.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14. Thiết Kế Giao Diện &amp; Trải Nghiệm</a:t>
            </a:r>
          </a:p>
        </p:txBody>
      </p:sp>
      <p:sp>
        <p:nvSpPr>
          <p:cNvPr id="100030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Hệ thống giao diện được tối ưu hóa toàn diện: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Tổng số layouts: 59 layout XML thiết kế đồng bộ theo Material 3.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Hoạt ảnh chuyển động: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Hiệu ứng Lottie lôi cuốn khi thanh toán thành công hoặc lên cấp.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Chế độ tối (Dark Mode):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Hỗ trợ giao diện tối đầy đủ bảo vệ mắt người dùng.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Custom QR Scanner: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Giao diện quét camera tích hợp hiệu ứng Laser chuyển động.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720000" y="540000"/>
            <a:ext cx="1072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C0392B"/>
                </a:solidFill>
                <a:latin typeface="Segoe UI"/>
                <a:ea typeface="Segoe UI"/>
              </a:rPr>
              <a:t>15. Kết Luận &amp; Định Hướng Tương Lai</a:t>
            </a:r>
          </a:p>
        </p:txBody>
      </p:sp>
      <p:sp>
        <p:nvSpPr>
          <p:cNvPr id="100032" name="TextBox 2"/>
          <p:cNvSpPr txBox="1"/>
          <p:nvPr/>
        </p:nvSpPr>
        <p:spPr>
          <a:xfrm xmlns:a="http://schemas.openxmlformats.org/drawingml/2006/main">
            <a:off x="720000" y="1368000"/>
            <a:ext cx="10728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Kết quả: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EventPass đã xây dựng thành công giải pháp số hóa toàn diện quy trình đặt vé và soát vé sự kiện, đáp ứng đầy đủ tiêu chí kỹ thuật.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• Định hướng tương lai: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1. Tích hợp cổng thanh toán: MoMo, VNPay, ZaloPay.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2. Gửi thông báo nhắc nhở tự động qua Firebase Cloud Messaging.</a:t>
            </a:r>
          </a:p>
          <a:p xmlns:a="http://schemas.openxmlformats.org/drawingml/2006/main">
            <a:r>
              <a:rPr lang="en-US" sz="1800">
                <a:solidFill>
                  <a:srgbClr val="3E352F"/>
                </a:solidFill>
                <a:latin typeface="Segoe UI"/>
                <a:ea typeface="Segoe UI"/>
              </a:rPr>
              <a:t>3. Đề xuất sự kiện cá nhân hóa bằng mô hình AI học máy.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2026-07-13T05:34:32Z</dcterms:created>
  <cp:lastModifiedBy>OfficeCLI</cp:lastModifiedBy>
  <dcterms:modified xsi:type="dcterms:W3CDTF">2026-07-13T05:34:32Z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2026-07-13T05:34:49Z</vt:lpwstr>
  </op:property>
</op:Properties>
</file>